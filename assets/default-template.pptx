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" userDrawn="1">
          <p15:clr>
            <a:srgbClr val="A4A3A4"/>
          </p15:clr>
        </p15:guide>
        <p15:guide id="2" pos="572" userDrawn="1">
          <p15:clr>
            <a:srgbClr val="A4A3A4"/>
          </p15:clr>
        </p15:guide>
        <p15:guide id="3" pos="3748" userDrawn="1">
          <p15:clr>
            <a:srgbClr val="A4A3A4"/>
          </p15:clr>
        </p15:guide>
        <p15:guide id="4" orient="horz" pos="5840" userDrawn="1">
          <p15:clr>
            <a:srgbClr val="A4A3A4"/>
          </p15:clr>
        </p15:guide>
        <p15:guide id="5" pos="2160" userDrawn="1">
          <p15:clr>
            <a:srgbClr val="A4A3A4"/>
          </p15:clr>
        </p15:guide>
        <p15:guide id="6" orient="horz" pos="806" userDrawn="1">
          <p15:clr>
            <a:srgbClr val="A4A3A4"/>
          </p15:clr>
        </p15:guide>
        <p15:guide id="7" orient="horz" pos="987" userDrawn="1">
          <p15:clr>
            <a:srgbClr val="A4A3A4"/>
          </p15:clr>
        </p15:guide>
        <p15:guide id="8" orient="horz" pos="1441" userDrawn="1">
          <p15:clr>
            <a:srgbClr val="A4A3A4"/>
          </p15:clr>
        </p15:guide>
        <p15:guide id="9" orient="horz" pos="2982" userDrawn="1">
          <p15:clr>
            <a:srgbClr val="A4A3A4"/>
          </p15:clr>
        </p15:guide>
        <p15:guide id="10" orient="horz" pos="4423" userDrawn="1">
          <p15:clr>
            <a:srgbClr val="A4A3A4"/>
          </p15:clr>
        </p15:guide>
        <p15:guide id="11" orient="horz" pos="15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howGuides="1">
      <p:cViewPr varScale="1">
        <p:scale>
          <a:sx n="99" d="100"/>
          <a:sy n="99" d="100"/>
        </p:scale>
        <p:origin x="84" y="582"/>
      </p:cViewPr>
      <p:guideLst>
        <p:guide orient="horz" pos="307"/>
        <p:guide pos="572"/>
        <p:guide pos="3748"/>
        <p:guide orient="horz" pos="5840"/>
        <p:guide pos="2160"/>
        <p:guide orient="horz" pos="806"/>
        <p:guide orient="horz" pos="987"/>
        <p:guide orient="horz" pos="1441"/>
        <p:guide orient="horz" pos="2982"/>
        <p:guide orient="horz" pos="4423"/>
        <p:guide orient="horz" pos="158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tags" Target="../tags/tag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980440" y="421005"/>
            <a:ext cx="5013960" cy="522159"/>
            <a:chOff x="1544" y="663"/>
            <a:chExt cx="7896" cy="994"/>
          </a:xfrm>
        </p:grpSpPr>
        <p:sp>
          <p:nvSpPr>
            <p:cNvPr id="7" name="文本框 6"/>
            <p:cNvSpPr txBox="1"/>
            <p:nvPr userDrawn="1"/>
          </p:nvSpPr>
          <p:spPr>
            <a:xfrm>
              <a:off x="1544" y="711"/>
              <a:ext cx="3192" cy="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 b="1">
                  <a:solidFill>
                    <a:srgbClr val="0070C0"/>
                  </a:solidFill>
                  <a:latin typeface="楷体" panose="02010609060101010101" charset="-122"/>
                  <a:ea typeface="楷体" panose="02010609060101010101" charset="-122"/>
                </a:rPr>
                <a:t>新初二</a:t>
              </a:r>
              <a:r>
                <a:rPr lang="zh-CN" altLang="en-US" sz="2400" b="1">
                  <a:latin typeface="楷体" panose="02010609060101010101" charset="-122"/>
                  <a:ea typeface="楷体" panose="02010609060101010101" charset="-122"/>
                  <a:sym typeface="+mn-ea"/>
                </a:rPr>
                <a:t>数学</a:t>
              </a:r>
              <a:endParaRPr lang="zh-CN" altLang="en-US" sz="24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8" name="文本框 7"/>
            <p:cNvSpPr txBox="1"/>
            <p:nvPr userDrawn="1"/>
          </p:nvSpPr>
          <p:spPr>
            <a:xfrm>
              <a:off x="6988" y="711"/>
              <a:ext cx="2452" cy="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 b="1">
                  <a:latin typeface="楷体" panose="02010609060101010101" charset="-122"/>
                  <a:ea typeface="楷体" panose="02010609060101010101" charset="-122"/>
                </a:rPr>
                <a:t>专项训练</a:t>
              </a:r>
              <a:endParaRPr lang="zh-CN" altLang="en-US" sz="2400" b="1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9" name="文本框 8"/>
            <p:cNvSpPr txBox="1"/>
            <p:nvPr userDrawn="1"/>
          </p:nvSpPr>
          <p:spPr>
            <a:xfrm>
              <a:off x="3812" y="663"/>
              <a:ext cx="3483" cy="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b="1">
                  <a:solidFill>
                    <a:srgbClr val="C00000"/>
                  </a:solidFill>
                  <a:latin typeface="楷体" panose="02010609060101010101" charset="-122"/>
                  <a:ea typeface="楷体" panose="02010609060101010101" charset="-122"/>
                </a:rPr>
                <a:t>【分式方程】</a:t>
              </a:r>
              <a:endParaRPr lang="zh-CN" altLang="en-US" sz="28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sp>
        <p:nvSpPr>
          <p:cNvPr id="10" name="文本框 9"/>
          <p:cNvSpPr txBox="1"/>
          <p:nvPr userDrawn="1"/>
        </p:nvSpPr>
        <p:spPr>
          <a:xfrm>
            <a:off x="2132965" y="906145"/>
            <a:ext cx="2633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tx1"/>
                </a:solidFill>
                <a:highlight>
                  <a:srgbClr val="00FFFF"/>
                </a:highlight>
                <a:latin typeface="楷体" panose="02010609060101010101" charset="-122"/>
                <a:ea typeface="楷体" panose="02010609060101010101" charset="-122"/>
              </a:rPr>
              <a:t>每日一练第</a:t>
            </a:r>
            <a:r>
              <a:rPr lang="en-US" altLang="zh-CN" sz="2000" b="1">
                <a:solidFill>
                  <a:schemeClr val="tx1"/>
                </a:solidFill>
                <a:highlight>
                  <a:srgbClr val="00FFFF"/>
                </a:highlight>
                <a:latin typeface="楷体" panose="02010609060101010101" charset="-122"/>
                <a:ea typeface="楷体" panose="02010609060101010101" charset="-122"/>
              </a:rPr>
              <a:t>  </a:t>
            </a:r>
            <a:r>
              <a:rPr lang="zh-CN" altLang="en-US" sz="2000" b="1">
                <a:solidFill>
                  <a:schemeClr val="tx1"/>
                </a:solidFill>
                <a:highlight>
                  <a:srgbClr val="00FFFF"/>
                </a:highlight>
                <a:latin typeface="楷体" panose="02010609060101010101" charset="-122"/>
                <a:ea typeface="楷体" panose="02010609060101010101" charset="-122"/>
              </a:rPr>
              <a:t>天</a:t>
            </a:r>
            <a:endParaRPr lang="zh-CN" altLang="en-US" sz="2000" b="1">
              <a:solidFill>
                <a:schemeClr val="tx1"/>
              </a:solidFill>
              <a:highlight>
                <a:srgbClr val="00FFFF"/>
              </a:highligh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81075" y="1304925"/>
            <a:ext cx="49053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日期：</a:t>
            </a:r>
            <a:r>
              <a:rPr lang="en-US" altLang="zh-CN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_________      </a:t>
            </a:r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用时：</a:t>
            </a:r>
            <a:r>
              <a:rPr lang="en-US" altLang="zh-CN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__________    </a:t>
            </a:r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得分：</a:t>
            </a:r>
            <a:r>
              <a:rPr lang="en-US" altLang="zh-CN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_________</a:t>
            </a:r>
            <a:endParaRPr lang="en-US" altLang="zh-CN" sz="1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43305" y="1567815"/>
            <a:ext cx="4869815" cy="645795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本套</a:t>
            </a:r>
            <a:r>
              <a:rPr lang="zh-CN" altLang="en-US" sz="140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专项训练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共</a:t>
            </a:r>
            <a:r>
              <a:rPr lang="en-US" altLang="zh-CN" sz="140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100</a:t>
            </a:r>
            <a:r>
              <a:rPr lang="zh-CN" altLang="en-US" sz="140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道精选母题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，题型</a:t>
            </a:r>
            <a:r>
              <a:rPr lang="zh-CN" altLang="en-US" sz="140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针对性高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zh-CN" altLang="en-US" sz="140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覆盖面广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zh-CN" altLang="en-US" sz="140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选题有深度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，可加强学生对</a:t>
            </a:r>
            <a:r>
              <a:rPr lang="zh-CN" altLang="en-US" sz="140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分式方程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的理解，计算不出错！</a:t>
            </a:r>
            <a:endParaRPr lang="zh-CN" altLang="en-US" sz="1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1535430" y="1855470"/>
            <a:ext cx="596265" cy="53340"/>
            <a:chOff x="2112" y="3282"/>
            <a:chExt cx="939" cy="84"/>
          </a:xfrm>
        </p:grpSpPr>
        <p:sp>
          <p:nvSpPr>
            <p:cNvPr id="14" name="椭圆 13"/>
            <p:cNvSpPr/>
            <p:nvPr userDrawn="1"/>
          </p:nvSpPr>
          <p:spPr>
            <a:xfrm>
              <a:off x="2112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 userDrawn="1"/>
          </p:nvSpPr>
          <p:spPr>
            <a:xfrm>
              <a:off x="2400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2679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2967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2510790" y="1855470"/>
            <a:ext cx="949960" cy="53975"/>
            <a:chOff x="2112" y="3282"/>
            <a:chExt cx="1496" cy="85"/>
          </a:xfrm>
        </p:grpSpPr>
        <p:sp>
          <p:nvSpPr>
            <p:cNvPr id="20" name="椭圆 19"/>
            <p:cNvSpPr/>
            <p:nvPr userDrawn="1"/>
          </p:nvSpPr>
          <p:spPr>
            <a:xfrm>
              <a:off x="2112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 userDrawn="1"/>
          </p:nvSpPr>
          <p:spPr>
            <a:xfrm>
              <a:off x="2400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 userDrawn="1"/>
          </p:nvSpPr>
          <p:spPr>
            <a:xfrm>
              <a:off x="2679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 userDrawn="1"/>
          </p:nvSpPr>
          <p:spPr>
            <a:xfrm>
              <a:off x="2967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 userDrawn="1"/>
          </p:nvSpPr>
          <p:spPr>
            <a:xfrm>
              <a:off x="3235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 userDrawn="1"/>
          </p:nvSpPr>
          <p:spPr>
            <a:xfrm>
              <a:off x="3523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 userDrawn="1"/>
        </p:nvGrpSpPr>
        <p:grpSpPr>
          <a:xfrm>
            <a:off x="4119880" y="1855470"/>
            <a:ext cx="596265" cy="53340"/>
            <a:chOff x="2112" y="3282"/>
            <a:chExt cx="939" cy="84"/>
          </a:xfrm>
        </p:grpSpPr>
        <p:sp>
          <p:nvSpPr>
            <p:cNvPr id="27" name="椭圆 26"/>
            <p:cNvSpPr/>
            <p:nvPr userDrawn="1"/>
          </p:nvSpPr>
          <p:spPr>
            <a:xfrm>
              <a:off x="2112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 userDrawn="1"/>
          </p:nvSpPr>
          <p:spPr>
            <a:xfrm>
              <a:off x="2400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 userDrawn="1"/>
          </p:nvSpPr>
          <p:spPr>
            <a:xfrm>
              <a:off x="2679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 userDrawn="1"/>
          </p:nvSpPr>
          <p:spPr>
            <a:xfrm>
              <a:off x="2967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012690" y="1855470"/>
            <a:ext cx="596265" cy="53340"/>
            <a:chOff x="2112" y="3282"/>
            <a:chExt cx="939" cy="84"/>
          </a:xfrm>
        </p:grpSpPr>
        <p:sp>
          <p:nvSpPr>
            <p:cNvPr id="37" name="椭圆 36"/>
            <p:cNvSpPr/>
            <p:nvPr userDrawn="1"/>
          </p:nvSpPr>
          <p:spPr>
            <a:xfrm>
              <a:off x="2112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 userDrawn="1"/>
          </p:nvSpPr>
          <p:spPr>
            <a:xfrm>
              <a:off x="2400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 userDrawn="1"/>
          </p:nvSpPr>
          <p:spPr>
            <a:xfrm>
              <a:off x="2679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 userDrawn="1"/>
          </p:nvSpPr>
          <p:spPr>
            <a:xfrm>
              <a:off x="2967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 userDrawn="1"/>
        </p:nvGrpSpPr>
        <p:grpSpPr>
          <a:xfrm>
            <a:off x="1196975" y="2165350"/>
            <a:ext cx="596265" cy="53340"/>
            <a:chOff x="2112" y="3282"/>
            <a:chExt cx="939" cy="84"/>
          </a:xfrm>
        </p:grpSpPr>
        <p:sp>
          <p:nvSpPr>
            <p:cNvPr id="42" name="椭圆 41"/>
            <p:cNvSpPr/>
            <p:nvPr userDrawn="1"/>
          </p:nvSpPr>
          <p:spPr>
            <a:xfrm>
              <a:off x="2112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 userDrawn="1"/>
          </p:nvSpPr>
          <p:spPr>
            <a:xfrm>
              <a:off x="2400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 userDrawn="1"/>
          </p:nvSpPr>
          <p:spPr>
            <a:xfrm>
              <a:off x="2679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 userDrawn="1"/>
          </p:nvSpPr>
          <p:spPr>
            <a:xfrm>
              <a:off x="2967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7" name="文本框 46"/>
          <p:cNvSpPr txBox="1"/>
          <p:nvPr userDrawn="1"/>
        </p:nvSpPr>
        <p:spPr>
          <a:xfrm>
            <a:off x="902970" y="2430780"/>
            <a:ext cx="602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48" name="文本框 47"/>
          <p:cNvSpPr txBox="1"/>
          <p:nvPr userDrawn="1"/>
        </p:nvSpPr>
        <p:spPr>
          <a:xfrm>
            <a:off x="902970" y="4663440"/>
            <a:ext cx="602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49" name="文本框 48"/>
          <p:cNvSpPr txBox="1"/>
          <p:nvPr userDrawn="1"/>
        </p:nvSpPr>
        <p:spPr>
          <a:xfrm>
            <a:off x="902970" y="6967855"/>
            <a:ext cx="602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3429000" y="2430780"/>
            <a:ext cx="602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2" name="文本框 51"/>
          <p:cNvSpPr txBox="1"/>
          <p:nvPr userDrawn="1"/>
        </p:nvSpPr>
        <p:spPr>
          <a:xfrm>
            <a:off x="3429000" y="4663440"/>
            <a:ext cx="602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3" name="文本框 52"/>
          <p:cNvSpPr txBox="1"/>
          <p:nvPr userDrawn="1"/>
        </p:nvSpPr>
        <p:spPr>
          <a:xfrm>
            <a:off x="3429000" y="6967855"/>
            <a:ext cx="602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</a:t>
            </a:r>
            <a:endParaRPr lang="zh-CN" altLang="en-US"/>
          </a:p>
        </p:txBody>
      </p:sp>
      <p:cxnSp>
        <p:nvCxnSpPr>
          <p:cNvPr id="56" name="直接连接符 55"/>
          <p:cNvCxnSpPr/>
          <p:nvPr userDrawn="1"/>
        </p:nvCxnSpPr>
        <p:spPr>
          <a:xfrm>
            <a:off x="3416300" y="2416175"/>
            <a:ext cx="12700" cy="6783705"/>
          </a:xfrm>
          <a:prstGeom prst="line">
            <a:avLst/>
          </a:prstGeom>
          <a:ln w="6350" cap="rnd" cmpd="sng" algn="ctr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7" name="组合 56"/>
          <p:cNvGrpSpPr/>
          <p:nvPr userDrawn="1"/>
        </p:nvGrpSpPr>
        <p:grpSpPr>
          <a:xfrm>
            <a:off x="3323590" y="2165985"/>
            <a:ext cx="596265" cy="53340"/>
            <a:chOff x="2112" y="3282"/>
            <a:chExt cx="939" cy="84"/>
          </a:xfrm>
        </p:grpSpPr>
        <p:sp>
          <p:nvSpPr>
            <p:cNvPr id="58" name="椭圆 57"/>
            <p:cNvSpPr/>
            <p:nvPr userDrawn="1"/>
          </p:nvSpPr>
          <p:spPr>
            <a:xfrm>
              <a:off x="2112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 userDrawn="1"/>
          </p:nvSpPr>
          <p:spPr>
            <a:xfrm>
              <a:off x="2400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 userDrawn="1"/>
          </p:nvSpPr>
          <p:spPr>
            <a:xfrm>
              <a:off x="2679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 userDrawn="1"/>
          </p:nvSpPr>
          <p:spPr>
            <a:xfrm>
              <a:off x="2967" y="3282"/>
              <a:ext cx="85" cy="8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62" name="直接连接符 61"/>
          <p:cNvCxnSpPr/>
          <p:nvPr userDrawn="1"/>
        </p:nvCxnSpPr>
        <p:spPr>
          <a:xfrm>
            <a:off x="909320" y="2359660"/>
            <a:ext cx="5039995" cy="0"/>
          </a:xfrm>
          <a:prstGeom prst="line">
            <a:avLst/>
          </a:prstGeom>
          <a:ln w="6350" cap="rnd" cmpd="sng" algn="ctr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楷体</vt:lpstr>
      <vt:lpstr>华文楷体</vt:lpstr>
      <vt:lpstr>微软雅黑</vt:lpstr>
      <vt:lpstr>Wingdings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蓝大海</cp:lastModifiedBy>
  <cp:revision>161</cp:revision>
  <dcterms:created xsi:type="dcterms:W3CDTF">2019-06-19T02:08:00Z</dcterms:created>
  <dcterms:modified xsi:type="dcterms:W3CDTF">2026-07-19T14:42:05Z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5F5427994DBC4E6AB01E1B81BAA7DA86_11</vt:lpwstr>
  </property>
</Properties>
</file>